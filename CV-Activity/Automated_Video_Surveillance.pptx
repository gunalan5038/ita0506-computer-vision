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72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74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13672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B62B0-273E-8980-8EC6-B5EF1BF95AE7}"/>
              </a:ext>
            </a:extLst>
          </p:cNvPr>
          <p:cNvSpPr>
            <a:spLocks noGrp="1"/>
          </p:cNvSpPr>
          <p:nvPr/>
        </p:nvSpPr>
        <p:spPr>
          <a:xfrm>
            <a:off x="1567803" y="1429257"/>
            <a:ext cx="9660890" cy="257429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AUTOMATED VIDEO SURVEILLANCE</a:t>
            </a:r>
            <a:endParaRPr lang="en-US" sz="3200" dirty="0"/>
          </a:p>
          <a:p>
            <a:b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ITA0506-Computer Vision</a:t>
            </a: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F0BBE2-E9AB-BED5-82BE-469ACF1ACA28}"/>
              </a:ext>
            </a:extLst>
          </p:cNvPr>
          <p:cNvSpPr>
            <a:spLocks noGrp="1"/>
          </p:cNvSpPr>
          <p:nvPr/>
        </p:nvSpPr>
        <p:spPr>
          <a:xfrm>
            <a:off x="7486752" y="4304424"/>
            <a:ext cx="4514126" cy="1986700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R.Sushma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(192525279)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K.Sandhya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(192472207)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S.Vyshnavi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(192472041)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Logesh.S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(192525023)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Gunalan.V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(192325038)</a:t>
            </a:r>
          </a:p>
          <a:p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图片">
            <a:extLst>
              <a:ext uri="{FF2B5EF4-FFF2-40B4-BE49-F238E27FC236}">
                <a16:creationId xmlns:a16="http://schemas.microsoft.com/office/drawing/2014/main" id="{59D73C3A-73FD-84D5-84D2-63632133345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47028" y="566875"/>
            <a:ext cx="11064240" cy="1498448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08C6A253-50AE-1519-51A9-410476C3F121}"/>
              </a:ext>
            </a:extLst>
          </p:cNvPr>
          <p:cNvSpPr txBox="1"/>
          <p:nvPr/>
        </p:nvSpPr>
        <p:spPr>
          <a:xfrm>
            <a:off x="191123" y="4517897"/>
            <a:ext cx="5744845" cy="156845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by:</a:t>
            </a:r>
          </a:p>
          <a:p>
            <a:pPr>
              <a:lnSpc>
                <a:spcPct val="150000"/>
              </a:lnSpc>
            </a:pPr>
            <a:r>
              <a:rPr lang="en-I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 Director:</a:t>
            </a:r>
            <a:r>
              <a:rPr lang="en-I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Dr.Sasi Rekha,Prof/CSE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Faculty: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R.C.Jeni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Gracia</a:t>
            </a:r>
            <a:r>
              <a:rPr lang="en-I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,AP/CSE</a:t>
            </a:r>
          </a:p>
        </p:txBody>
      </p:sp>
    </p:spTree>
    <p:extLst>
      <p:ext uri="{BB962C8B-B14F-4D97-AF65-F5344CB8AC3E}">
        <p14:creationId xmlns:p14="http://schemas.microsoft.com/office/powerpoint/2010/main" val="32453439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" cy="31089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38912" y="310896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41248" y="310896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VIDEO SURVEILLANCE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1286439" y="256032"/>
            <a:ext cx="438912" cy="438912"/>
          </a:xfrm>
          <a:prstGeom prst="ellipse">
            <a:avLst/>
          </a:prstGeom>
          <a:ln w="28575">
            <a:solidFill>
              <a:srgbClr val="3A6EA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13724" y="383316"/>
            <a:ext cx="184343" cy="184343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86868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kern="0" spc="1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463040" y="1920240"/>
            <a:ext cx="47548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spcAft>
                <a:spcPts val="2000"/>
              </a:spcAft>
              <a:buNone/>
            </a:pPr>
            <a:r>
              <a:rPr lang="en-US" sz="17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Introduction</a:t>
            </a:r>
            <a:endParaRPr lang="en-US" sz="1700" dirty="0"/>
          </a:p>
          <a:p>
            <a:pPr marL="0" indent="0">
              <a:lnSpc>
                <a:spcPct val="110000"/>
              </a:lnSpc>
              <a:spcAft>
                <a:spcPts val="2000"/>
              </a:spcAft>
              <a:buNone/>
            </a:pPr>
            <a:r>
              <a:rPr lang="en-US" sz="17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Literature Survey</a:t>
            </a:r>
            <a:endParaRPr lang="en-US" sz="1700" dirty="0"/>
          </a:p>
          <a:p>
            <a:pPr marL="0" indent="0">
              <a:lnSpc>
                <a:spcPct val="110000"/>
              </a:lnSpc>
              <a:spcAft>
                <a:spcPts val="2000"/>
              </a:spcAft>
              <a:buNone/>
            </a:pPr>
            <a:r>
              <a:rPr lang="en-US" sz="17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Problem Statement</a:t>
            </a:r>
            <a:endParaRPr lang="en-US" sz="1700" dirty="0"/>
          </a:p>
          <a:p>
            <a:pPr marL="0" indent="0">
              <a:lnSpc>
                <a:spcPct val="110000"/>
              </a:lnSpc>
              <a:spcAft>
                <a:spcPts val="2000"/>
              </a:spcAft>
              <a:buNone/>
            </a:pPr>
            <a:r>
              <a:rPr lang="en-US" sz="17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Objectives</a:t>
            </a:r>
            <a:endParaRPr lang="en-US" sz="1700" dirty="0"/>
          </a:p>
          <a:p>
            <a:pPr marL="0" indent="0">
              <a:lnSpc>
                <a:spcPct val="110000"/>
              </a:lnSpc>
              <a:spcAft>
                <a:spcPts val="2000"/>
              </a:spcAft>
              <a:buNone/>
            </a:pPr>
            <a:r>
              <a:rPr lang="en-US" sz="17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System Architecture</a:t>
            </a:r>
            <a:endParaRPr lang="en-US" sz="1700" dirty="0"/>
          </a:p>
          <a:p>
            <a:pPr marL="0" indent="0">
              <a:lnSpc>
                <a:spcPct val="110000"/>
              </a:lnSpc>
              <a:spcAft>
                <a:spcPts val="2000"/>
              </a:spcAft>
              <a:buNone/>
            </a:pPr>
            <a:r>
              <a:rPr lang="en-US" sz="17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Modules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400800" y="1920240"/>
            <a:ext cx="47548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spcAft>
                <a:spcPts val="2000"/>
              </a:spcAft>
              <a:buNone/>
            </a:pPr>
            <a:r>
              <a:rPr lang="en-US" sz="17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Results and Discussion</a:t>
            </a:r>
            <a:endParaRPr lang="en-US" sz="1700" dirty="0"/>
          </a:p>
          <a:p>
            <a:pPr marL="0" indent="0">
              <a:lnSpc>
                <a:spcPct val="110000"/>
              </a:lnSpc>
              <a:spcAft>
                <a:spcPts val="2000"/>
              </a:spcAft>
              <a:buNone/>
            </a:pPr>
            <a:r>
              <a:rPr lang="en-US" sz="17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Applications</a:t>
            </a:r>
            <a:endParaRPr lang="en-US" sz="1700" dirty="0"/>
          </a:p>
          <a:p>
            <a:pPr marL="0" indent="0">
              <a:lnSpc>
                <a:spcPct val="110000"/>
              </a:lnSpc>
              <a:spcAft>
                <a:spcPts val="2000"/>
              </a:spcAft>
              <a:buNone/>
            </a:pPr>
            <a:r>
              <a:rPr lang="en-US" sz="17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 Conclusion</a:t>
            </a:r>
            <a:endParaRPr lang="en-US" sz="1700" dirty="0"/>
          </a:p>
          <a:p>
            <a:pPr marL="0" indent="0">
              <a:lnSpc>
                <a:spcPct val="110000"/>
              </a:lnSpc>
              <a:spcAft>
                <a:spcPts val="2000"/>
              </a:spcAft>
              <a:buNone/>
            </a:pPr>
            <a:r>
              <a:rPr lang="en-US" sz="17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 Future Scope</a:t>
            </a:r>
            <a:endParaRPr lang="en-US" sz="1700" dirty="0"/>
          </a:p>
          <a:p>
            <a:pPr marL="0" indent="0">
              <a:lnSpc>
                <a:spcPct val="110000"/>
              </a:lnSpc>
              <a:spcAft>
                <a:spcPts val="2000"/>
              </a:spcAft>
              <a:buNone/>
            </a:pPr>
            <a:r>
              <a:rPr lang="en-US" sz="17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 References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089904" y="1920240"/>
            <a:ext cx="0" cy="3931920"/>
          </a:xfrm>
          <a:prstGeom prst="line">
            <a:avLst/>
          </a:prstGeom>
          <a:noFill/>
          <a:ln w="15875">
            <a:solidFill>
              <a:srgbClr val="D8E0EC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" cy="31089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38912" y="310896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41248" y="310896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VIDEO SURVEILLANCE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1286439" y="256032"/>
            <a:ext cx="438912" cy="438912"/>
          </a:xfrm>
          <a:prstGeom prst="ellipse">
            <a:avLst/>
          </a:prstGeom>
          <a:ln w="28575">
            <a:solidFill>
              <a:srgbClr val="3A6EA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13724" y="383316"/>
            <a:ext cx="184343" cy="184343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86868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kern="0" spc="1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1783080"/>
            <a:ext cx="6492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surveillance requires continuous human monitoring of CCTV footage.</a:t>
            </a:r>
            <a:endParaRPr lang="en-US" sz="1550" dirty="0"/>
          </a:p>
          <a:p>
            <a:pPr marL="228600" indent="-228600" algn="l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large numbers of cameras is difficult and time-consuming.</a:t>
            </a:r>
            <a:endParaRPr lang="en-US" sz="1550" dirty="0"/>
          </a:p>
          <a:p>
            <a:pPr marL="228600" indent="-228600" algn="l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and AI can automatically analyze live video streams.</a:t>
            </a:r>
            <a:endParaRPr lang="en-US" sz="1550" dirty="0"/>
          </a:p>
          <a:p>
            <a:pPr marL="228600" indent="-228600" algn="l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detects objects, people, and abnormal or suspicious activities.</a:t>
            </a:r>
            <a:endParaRPr lang="en-US" sz="1550" dirty="0"/>
          </a:p>
          <a:p>
            <a:pPr marL="228600" indent="-228600" algn="l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alerts help security personnel respond quickly to incidents.</a:t>
            </a:r>
            <a:endParaRPr lang="en-US" sz="1550" dirty="0"/>
          </a:p>
          <a:p>
            <a:pPr marL="228600" indent="-228600" algn="l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monitoring efficiency and reduces dependence on constant manual observation.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7863840" y="1965960"/>
            <a:ext cx="3566160" cy="2377440"/>
          </a:xfrm>
          <a:prstGeom prst="roundRect">
            <a:avLst>
              <a:gd name="adj" fmla="val 3077"/>
            </a:avLst>
          </a:prstGeom>
          <a:solidFill>
            <a:srgbClr val="1E2761"/>
          </a:solidFill>
          <a:ln/>
        </p:spPr>
      </p:sp>
      <p:sp>
        <p:nvSpPr>
          <p:cNvPr id="11" name="Shape 9"/>
          <p:cNvSpPr/>
          <p:nvPr/>
        </p:nvSpPr>
        <p:spPr>
          <a:xfrm>
            <a:off x="8028432" y="2130552"/>
            <a:ext cx="3236976" cy="1828800"/>
          </a:xfrm>
          <a:prstGeom prst="rect">
            <a:avLst/>
          </a:prstGeom>
          <a:solidFill>
            <a:srgbClr val="16406B"/>
          </a:solidFill>
          <a:ln w="12700">
            <a:solidFill>
              <a:srgbClr val="3A6EA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66760" y="3017520"/>
            <a:ext cx="256032" cy="256032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3" name="Shape 11"/>
          <p:cNvSpPr/>
          <p:nvPr/>
        </p:nvSpPr>
        <p:spPr>
          <a:xfrm flipV="1">
            <a:off x="8247888" y="3264408"/>
            <a:ext cx="493776" cy="502920"/>
          </a:xfrm>
          <a:prstGeom prst="triangle">
            <a:avLst/>
          </a:prstGeom>
          <a:solidFill>
            <a:srgbClr val="CADCFC"/>
          </a:solidFill>
          <a:ln/>
        </p:spPr>
      </p:sp>
      <p:sp>
        <p:nvSpPr>
          <p:cNvPr id="14" name="Shape 12"/>
          <p:cNvSpPr/>
          <p:nvPr/>
        </p:nvSpPr>
        <p:spPr>
          <a:xfrm>
            <a:off x="9875520" y="2651760"/>
            <a:ext cx="219456" cy="21945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5" name="Shape 13"/>
          <p:cNvSpPr/>
          <p:nvPr/>
        </p:nvSpPr>
        <p:spPr>
          <a:xfrm flipV="1">
            <a:off x="9774936" y="2862072"/>
            <a:ext cx="420624" cy="457200"/>
          </a:xfrm>
          <a:prstGeom prst="triangle">
            <a:avLst/>
          </a:prstGeom>
          <a:solidFill>
            <a:srgbClr val="CADCFC"/>
          </a:solidFill>
          <a:ln/>
        </p:spPr>
      </p:sp>
      <p:sp>
        <p:nvSpPr>
          <p:cNvPr id="16" name="Shape 14"/>
          <p:cNvSpPr/>
          <p:nvPr/>
        </p:nvSpPr>
        <p:spPr>
          <a:xfrm>
            <a:off x="8156448" y="2926080"/>
            <a:ext cx="640080" cy="914400"/>
          </a:xfrm>
          <a:prstGeom prst="rect">
            <a:avLst/>
          </a:prstGeom>
          <a:ln w="22225">
            <a:solidFill>
              <a:srgbClr val="00B4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92640" y="2587752"/>
            <a:ext cx="566928" cy="786384"/>
          </a:xfrm>
          <a:prstGeom prst="rect">
            <a:avLst/>
          </a:prstGeom>
          <a:ln w="22225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56448" y="274320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98%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11045952" y="2103120"/>
            <a:ext cx="91440" cy="9144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20" name="Text 18"/>
          <p:cNvSpPr/>
          <p:nvPr/>
        </p:nvSpPr>
        <p:spPr>
          <a:xfrm>
            <a:off x="10607040" y="203911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2A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863840" y="395935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CCTV feed with automated object detection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" cy="31089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38912" y="310896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41248" y="310896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VIDEO SURVEILLANCE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1286439" y="256032"/>
            <a:ext cx="438912" cy="438912"/>
          </a:xfrm>
          <a:prstGeom prst="ellipse">
            <a:avLst/>
          </a:prstGeom>
          <a:ln w="28575">
            <a:solidFill>
              <a:srgbClr val="3A6EA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13724" y="383316"/>
            <a:ext cx="184343" cy="184343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86868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kern="0" spc="1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1109960" cy="3931920"/>
        </p:xfrm>
        <a:graphic>
          <a:graphicData uri="http://schemas.openxmlformats.org/drawingml/2006/table">
            <a:tbl>
              <a:tblPr/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5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 / Year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Technique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Redmon et al. (2016)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 — real-time object detection (CNN, single-pass)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Detecting people/objects in video frames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Struggles with small or overlapping objects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Bewley et al. (2016)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SORT — Kalman filter + Hungarian assignment tracking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multi-object tracking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Frequent ID switches during occlusion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Sultani et al. (2018)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MIL-based weakly supervised anomaly detection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Anomaly detection in surveillance video (UCF-Crime)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Requires large, diverse labeled video data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Zhang et al. (2022)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ByteTrack — associates low-confidence detections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Robust multi-object tracking under occlusion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 computation than simpler trackers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Ramachandra &amp; Jones (2020)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Survey of video anomaly detection methods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Benchmarking anomaly detection approaches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single standard benchmark across methods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" cy="31089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38912" y="310896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41248" y="310896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VIDEO SURVEILLANCE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1286439" y="256032"/>
            <a:ext cx="438912" cy="438912"/>
          </a:xfrm>
          <a:prstGeom prst="ellipse">
            <a:avLst/>
          </a:prstGeom>
          <a:ln w="28575">
            <a:solidFill>
              <a:srgbClr val="3A6EA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13724" y="383316"/>
            <a:ext cx="184343" cy="184343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86868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kern="0" spc="1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88720" y="1874520"/>
            <a:ext cx="9814255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manual monitoring of CCTV footage is difficult to sustain.</a:t>
            </a:r>
            <a:endParaRPr lang="en-US" sz="1600" dirty="0"/>
          </a:p>
          <a:p>
            <a:pPr marL="228600" indent="-228600" algn="l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numbers of cameras generate huge volumes of video data.</a:t>
            </a:r>
            <a:endParaRPr lang="en-US" sz="1600" dirty="0"/>
          </a:p>
          <a:p>
            <a:pPr marL="228600" indent="-228600" algn="l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activities may be missed because of human fatigue.</a:t>
            </a:r>
            <a:endParaRPr lang="en-US" sz="1600" dirty="0"/>
          </a:p>
          <a:p>
            <a:pPr marL="228600" indent="-228600" algn="l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Reviewing recorded footage after an incident is time-consuming.</a:t>
            </a:r>
            <a:endParaRPr lang="en-US" sz="1600" dirty="0"/>
          </a:p>
          <a:p>
            <a:pPr marL="228600" indent="-228600" algn="l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basic CCTV systems mainly record video without intelligent analysis.</a:t>
            </a:r>
            <a:endParaRPr lang="en-US" sz="1600" dirty="0"/>
          </a:p>
          <a:p>
            <a:pPr marL="228600" indent="-228600" algn="l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personnel may not receive immediate alerts for abnormal events.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" cy="31089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38912" y="310896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41248" y="310896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VIDEO SURVEILLANCE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1286439" y="256032"/>
            <a:ext cx="438912" cy="438912"/>
          </a:xfrm>
          <a:prstGeom prst="ellipse">
            <a:avLst/>
          </a:prstGeom>
          <a:ln w="28575">
            <a:solidFill>
              <a:srgbClr val="3A6EA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13724" y="383316"/>
            <a:ext cx="184343" cy="184343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86868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kern="0" spc="1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22960" y="1828800"/>
            <a:ext cx="5257800" cy="1188720"/>
          </a:xfrm>
          <a:prstGeom prst="roundRect">
            <a:avLst>
              <a:gd name="adj" fmla="val 6154"/>
            </a:avLst>
          </a:prstGeom>
          <a:solidFill>
            <a:srgbClr val="EEF3FA"/>
          </a:solidFill>
          <a:ln/>
        </p:spPr>
      </p:sp>
      <p:sp>
        <p:nvSpPr>
          <p:cNvPr id="10" name="Shape 8"/>
          <p:cNvSpPr/>
          <p:nvPr/>
        </p:nvSpPr>
        <p:spPr>
          <a:xfrm>
            <a:off x="1024128" y="222199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1024128" y="22219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600200" y="192024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an AI-based automated video surveillance system.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537960" y="1828800"/>
            <a:ext cx="5257800" cy="1188720"/>
          </a:xfrm>
          <a:prstGeom prst="roundRect">
            <a:avLst>
              <a:gd name="adj" fmla="val 6154"/>
            </a:avLst>
          </a:prstGeom>
          <a:solidFill>
            <a:srgbClr val="EEF3FA"/>
          </a:solidFill>
          <a:ln/>
        </p:spPr>
      </p:sp>
      <p:sp>
        <p:nvSpPr>
          <p:cNvPr id="14" name="Shape 12"/>
          <p:cNvSpPr/>
          <p:nvPr/>
        </p:nvSpPr>
        <p:spPr>
          <a:xfrm>
            <a:off x="6739128" y="222199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6739128" y="22219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315200" y="192024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and track people and objects in real-time video.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22960" y="3337560"/>
            <a:ext cx="5257800" cy="1188720"/>
          </a:xfrm>
          <a:prstGeom prst="roundRect">
            <a:avLst>
              <a:gd name="adj" fmla="val 6154"/>
            </a:avLst>
          </a:prstGeom>
          <a:solidFill>
            <a:srgbClr val="EEF3FA"/>
          </a:solidFill>
          <a:ln/>
        </p:spPr>
      </p:sp>
      <p:sp>
        <p:nvSpPr>
          <p:cNvPr id="18" name="Shape 16"/>
          <p:cNvSpPr/>
          <p:nvPr/>
        </p:nvSpPr>
        <p:spPr>
          <a:xfrm>
            <a:off x="1024128" y="373075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1024128" y="3730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600200" y="342900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suspicious or abnormal activities automatically.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537960" y="3337560"/>
            <a:ext cx="5257800" cy="1188720"/>
          </a:xfrm>
          <a:prstGeom prst="roundRect">
            <a:avLst>
              <a:gd name="adj" fmla="val 6154"/>
            </a:avLst>
          </a:prstGeom>
          <a:solidFill>
            <a:srgbClr val="EEF3FA"/>
          </a:solidFill>
          <a:ln/>
        </p:spPr>
      </p:sp>
      <p:sp>
        <p:nvSpPr>
          <p:cNvPr id="22" name="Shape 20"/>
          <p:cNvSpPr/>
          <p:nvPr/>
        </p:nvSpPr>
        <p:spPr>
          <a:xfrm>
            <a:off x="6739128" y="373075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6739128" y="3730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315200" y="342900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alerts when predefined events are detected.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22960" y="4846320"/>
            <a:ext cx="5257800" cy="1188720"/>
          </a:xfrm>
          <a:prstGeom prst="roundRect">
            <a:avLst>
              <a:gd name="adj" fmla="val 6154"/>
            </a:avLst>
          </a:prstGeom>
          <a:solidFill>
            <a:srgbClr val="EEF3FA"/>
          </a:solidFill>
          <a:ln/>
        </p:spPr>
      </p:sp>
      <p:sp>
        <p:nvSpPr>
          <p:cNvPr id="26" name="Shape 24"/>
          <p:cNvSpPr/>
          <p:nvPr/>
        </p:nvSpPr>
        <p:spPr>
          <a:xfrm>
            <a:off x="1024128" y="523951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1024128" y="52395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600200" y="493776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the workload of security personnel.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537960" y="4846320"/>
            <a:ext cx="5257800" cy="1188720"/>
          </a:xfrm>
          <a:prstGeom prst="roundRect">
            <a:avLst>
              <a:gd name="adj" fmla="val 6154"/>
            </a:avLst>
          </a:prstGeom>
          <a:solidFill>
            <a:srgbClr val="EEF3FA"/>
          </a:solidFill>
          <a:ln/>
        </p:spPr>
      </p:sp>
      <p:sp>
        <p:nvSpPr>
          <p:cNvPr id="30" name="Shape 28"/>
          <p:cNvSpPr/>
          <p:nvPr/>
        </p:nvSpPr>
        <p:spPr>
          <a:xfrm>
            <a:off x="6739128" y="523951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6739128" y="52395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315200" y="493776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the speed and efficiency of surveillance monitoring.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" cy="31089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38912" y="310896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41248" y="310896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VIDEO SURVEILLANCE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1286439" y="256032"/>
            <a:ext cx="438912" cy="438912"/>
          </a:xfrm>
          <a:prstGeom prst="ellipse">
            <a:avLst/>
          </a:prstGeom>
          <a:ln w="28575">
            <a:solidFill>
              <a:srgbClr val="3A6EA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13724" y="383316"/>
            <a:ext cx="184343" cy="184343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86868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kern="0" spc="1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22960" y="1874520"/>
            <a:ext cx="2331720" cy="868680"/>
          </a:xfrm>
          <a:prstGeom prst="roundRect">
            <a:avLst>
              <a:gd name="adj" fmla="val 9474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896112" y="1874520"/>
            <a:ext cx="21854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CCTV / Video</a:t>
            </a:r>
            <a:endParaRPr lang="en-US" sz="12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25089" y="2226564"/>
            <a:ext cx="362102" cy="164592"/>
          </a:xfrm>
          <a:prstGeom prst="rightArrow">
            <a:avLst/>
          </a:prstGeom>
          <a:solidFill>
            <a:srgbClr val="00B4D8"/>
          </a:solidFill>
          <a:ln/>
        </p:spPr>
      </p:sp>
      <p:sp>
        <p:nvSpPr>
          <p:cNvPr id="12" name="Shape 10"/>
          <p:cNvSpPr/>
          <p:nvPr/>
        </p:nvSpPr>
        <p:spPr>
          <a:xfrm>
            <a:off x="3657600" y="1874520"/>
            <a:ext cx="2331720" cy="868680"/>
          </a:xfrm>
          <a:prstGeom prst="roundRect">
            <a:avLst>
              <a:gd name="adj" fmla="val 9474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3730752" y="1874520"/>
            <a:ext cx="21854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Frame</a:t>
            </a:r>
            <a:endParaRPr lang="en-US" sz="12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059729" y="2226564"/>
            <a:ext cx="362102" cy="164592"/>
          </a:xfrm>
          <a:prstGeom prst="rightArrow">
            <a:avLst/>
          </a:prstGeom>
          <a:solidFill>
            <a:srgbClr val="00B4D8"/>
          </a:solidFill>
          <a:ln/>
        </p:spPr>
      </p:sp>
      <p:sp>
        <p:nvSpPr>
          <p:cNvPr id="15" name="Shape 13"/>
          <p:cNvSpPr/>
          <p:nvPr/>
        </p:nvSpPr>
        <p:spPr>
          <a:xfrm>
            <a:off x="6492240" y="1874520"/>
            <a:ext cx="2331720" cy="868680"/>
          </a:xfrm>
          <a:prstGeom prst="roundRect">
            <a:avLst>
              <a:gd name="adj" fmla="val 9474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6565392" y="1874520"/>
            <a:ext cx="21854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894369" y="2226564"/>
            <a:ext cx="362102" cy="164592"/>
          </a:xfrm>
          <a:prstGeom prst="rightArrow">
            <a:avLst/>
          </a:prstGeom>
          <a:solidFill>
            <a:srgbClr val="00B4D8"/>
          </a:solidFill>
          <a:ln/>
        </p:spPr>
      </p:sp>
      <p:sp>
        <p:nvSpPr>
          <p:cNvPr id="18" name="Shape 16"/>
          <p:cNvSpPr/>
          <p:nvPr/>
        </p:nvSpPr>
        <p:spPr>
          <a:xfrm>
            <a:off x="9326880" y="1874520"/>
            <a:ext cx="2331720" cy="868680"/>
          </a:xfrm>
          <a:prstGeom prst="roundRect">
            <a:avLst>
              <a:gd name="adj" fmla="val 9474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9400032" y="1874520"/>
            <a:ext cx="21854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</a:t>
            </a:r>
            <a:endParaRPr lang="en-US" sz="12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22960" y="3429000"/>
            <a:ext cx="2331720" cy="868680"/>
          </a:xfrm>
          <a:prstGeom prst="roundRect">
            <a:avLst>
              <a:gd name="adj" fmla="val 9474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896112" y="3429000"/>
            <a:ext cx="21854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/</a:t>
            </a:r>
            <a:endParaRPr lang="en-US" sz="12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225089" y="3781044"/>
            <a:ext cx="362102" cy="164592"/>
          </a:xfrm>
          <a:prstGeom prst="rightArrow">
            <a:avLst/>
          </a:prstGeom>
          <a:solidFill>
            <a:srgbClr val="00B4D8"/>
          </a:solidFill>
          <a:ln/>
        </p:spPr>
      </p:sp>
      <p:sp>
        <p:nvSpPr>
          <p:cNvPr id="23" name="Shape 21"/>
          <p:cNvSpPr/>
          <p:nvPr/>
        </p:nvSpPr>
        <p:spPr>
          <a:xfrm>
            <a:off x="3657600" y="3429000"/>
            <a:ext cx="2331720" cy="868680"/>
          </a:xfrm>
          <a:prstGeom prst="roundRect">
            <a:avLst>
              <a:gd name="adj" fmla="val 9474"/>
            </a:avLst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3730752" y="3429000"/>
            <a:ext cx="21854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2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059729" y="3781044"/>
            <a:ext cx="362102" cy="164592"/>
          </a:xfrm>
          <a:prstGeom prst="rightArrow">
            <a:avLst/>
          </a:prstGeom>
          <a:solidFill>
            <a:srgbClr val="00B4D8"/>
          </a:solidFill>
          <a:ln/>
        </p:spPr>
      </p:sp>
      <p:sp>
        <p:nvSpPr>
          <p:cNvPr id="26" name="Shape 24"/>
          <p:cNvSpPr/>
          <p:nvPr/>
        </p:nvSpPr>
        <p:spPr>
          <a:xfrm>
            <a:off x="6492240" y="3429000"/>
            <a:ext cx="2331720" cy="868680"/>
          </a:xfrm>
          <a:prstGeom prst="roundRect">
            <a:avLst>
              <a:gd name="adj" fmla="val 9474"/>
            </a:avLst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6565392" y="3429000"/>
            <a:ext cx="21854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/ Anomaly</a:t>
            </a:r>
            <a:endParaRPr lang="en-US" sz="12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894369" y="3781044"/>
            <a:ext cx="362102" cy="164592"/>
          </a:xfrm>
          <a:prstGeom prst="rightArrow">
            <a:avLst/>
          </a:prstGeom>
          <a:solidFill>
            <a:srgbClr val="00B4D8"/>
          </a:solidFill>
          <a:ln/>
        </p:spPr>
      </p:sp>
      <p:sp>
        <p:nvSpPr>
          <p:cNvPr id="29" name="Shape 27"/>
          <p:cNvSpPr/>
          <p:nvPr/>
        </p:nvSpPr>
        <p:spPr>
          <a:xfrm>
            <a:off x="9326880" y="3429000"/>
            <a:ext cx="2331720" cy="868680"/>
          </a:xfrm>
          <a:prstGeom prst="roundRect">
            <a:avLst>
              <a:gd name="adj" fmla="val 9474"/>
            </a:avLst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9400032" y="3429000"/>
            <a:ext cx="21854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</a:t>
            </a:r>
            <a:endParaRPr lang="en-US" sz="12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10410444" y="2743200"/>
            <a:ext cx="164592" cy="685800"/>
          </a:xfrm>
          <a:prstGeom prst="downArrow">
            <a:avLst/>
          </a:prstGeom>
          <a:solidFill>
            <a:srgbClr val="00B4D8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" y="452628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/ open-source tools:  Python  ·  OpenCV  ·  YOLO  ·  ByteTrack  ·  PyTorch  ·  Flask / Streamlit dashboard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22960" y="5074920"/>
            <a:ext cx="1054577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frames are extracted from CCTV or webcam input and preprocessed for the model.</a:t>
            </a:r>
            <a:endParaRPr lang="en-US" sz="1200" dirty="0"/>
          </a:p>
          <a:p>
            <a:pPr marL="228600" indent="-228600" algn="l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detects and localizes objects; tracking maintains identity across frames.</a:t>
            </a:r>
            <a:endParaRPr lang="en-US" sz="1200" dirty="0"/>
          </a:p>
          <a:p>
            <a:pPr marL="228600" indent="-228600" algn="l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 is analyzed for anomalies, and alerts are raised on the monitoring dashboard.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" cy="31089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38912" y="310896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41248" y="310896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VIDEO SURVEILLANCE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1286439" y="256032"/>
            <a:ext cx="438912" cy="438912"/>
          </a:xfrm>
          <a:prstGeom prst="ellipse">
            <a:avLst/>
          </a:prstGeom>
          <a:ln w="28575">
            <a:solidFill>
              <a:srgbClr val="3A6EA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13724" y="383316"/>
            <a:ext cx="184343" cy="184343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86868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kern="0" spc="1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1: VIDEO ACQUISITION &amp; PREPROCESSING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1828800"/>
            <a:ext cx="65836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lnSpc>
                <a:spcPct val="108000"/>
              </a:lnSpc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video from CCTV, webcam, or uploaded video files.</a:t>
            </a:r>
            <a:endParaRPr lang="en-US" sz="1450" dirty="0"/>
          </a:p>
          <a:p>
            <a:pPr marL="228600" indent="-228600" algn="l">
              <a:lnSpc>
                <a:spcPct val="108000"/>
              </a:lnSpc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individual frames from the continuous video stream.</a:t>
            </a:r>
            <a:endParaRPr lang="en-US" sz="1450" dirty="0"/>
          </a:p>
          <a:p>
            <a:pPr marL="228600" indent="-228600" algn="l">
              <a:lnSpc>
                <a:spcPct val="108000"/>
              </a:lnSpc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Resizes frames for efficient, consistent model input.</a:t>
            </a:r>
            <a:endParaRPr lang="en-US" sz="1450" dirty="0"/>
          </a:p>
          <a:p>
            <a:pPr marL="228600" indent="-228600" algn="l">
              <a:lnSpc>
                <a:spcPct val="108000"/>
              </a:lnSpc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Performs noise reduction and image enhancement when required.</a:t>
            </a:r>
            <a:endParaRPr lang="en-US" sz="1450" dirty="0"/>
          </a:p>
          <a:p>
            <a:pPr marL="228600" indent="-228600" algn="l">
              <a:lnSpc>
                <a:spcPct val="108000"/>
              </a:lnSpc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video into a suitable input format for the AI model.</a:t>
            </a:r>
            <a:endParaRPr lang="en-US" sz="1450" dirty="0"/>
          </a:p>
          <a:p>
            <a:pPr marL="228600" indent="-228600" algn="l">
              <a:lnSpc>
                <a:spcPct val="108000"/>
              </a:lnSpc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both real-time streaming and recorded video analysis.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7955280" y="1965960"/>
            <a:ext cx="3474720" cy="685800"/>
          </a:xfrm>
          <a:prstGeom prst="roundRect">
            <a:avLst>
              <a:gd name="adj" fmla="val 10667"/>
            </a:avLst>
          </a:prstGeom>
          <a:solidFill>
            <a:srgbClr val="EEF3FA"/>
          </a:solidFill>
          <a:ln w="12700">
            <a:solidFill>
              <a:srgbClr val="3A6E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0" y="196596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Video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610344" y="2670048"/>
            <a:ext cx="164592" cy="219456"/>
          </a:xfrm>
          <a:prstGeom prst="downArrow">
            <a:avLst/>
          </a:prstGeom>
          <a:solidFill>
            <a:srgbClr val="00B4D8"/>
          </a:solidFill>
          <a:ln/>
        </p:spPr>
      </p:sp>
      <p:sp>
        <p:nvSpPr>
          <p:cNvPr id="13" name="Shape 11"/>
          <p:cNvSpPr/>
          <p:nvPr/>
        </p:nvSpPr>
        <p:spPr>
          <a:xfrm>
            <a:off x="7955280" y="2926080"/>
            <a:ext cx="3474720" cy="685800"/>
          </a:xfrm>
          <a:prstGeom prst="roundRect">
            <a:avLst>
              <a:gd name="adj" fmla="val 10667"/>
            </a:avLst>
          </a:prstGeom>
          <a:solidFill>
            <a:srgbClr val="EEF3FA"/>
          </a:solidFill>
          <a:ln w="12700">
            <a:solidFill>
              <a:srgbClr val="3A6E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0" y="292608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Extraction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610344" y="3630168"/>
            <a:ext cx="164592" cy="219456"/>
          </a:xfrm>
          <a:prstGeom prst="downArrow">
            <a:avLst/>
          </a:prstGeom>
          <a:solidFill>
            <a:srgbClr val="00B4D8"/>
          </a:solidFill>
          <a:ln/>
        </p:spPr>
      </p:sp>
      <p:sp>
        <p:nvSpPr>
          <p:cNvPr id="16" name="Shape 14"/>
          <p:cNvSpPr/>
          <p:nvPr/>
        </p:nvSpPr>
        <p:spPr>
          <a:xfrm>
            <a:off x="7955280" y="3886200"/>
            <a:ext cx="3474720" cy="685800"/>
          </a:xfrm>
          <a:prstGeom prst="roundRect">
            <a:avLst>
              <a:gd name="adj" fmla="val 10667"/>
            </a:avLst>
          </a:prstGeom>
          <a:solidFill>
            <a:srgbClr val="EEF3FA"/>
          </a:solidFill>
          <a:ln w="12700">
            <a:solidFill>
              <a:srgbClr val="3A6EA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55280" y="388620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+ Enhance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610344" y="4590288"/>
            <a:ext cx="164592" cy="219456"/>
          </a:xfrm>
          <a:prstGeom prst="downArrow">
            <a:avLst/>
          </a:prstGeom>
          <a:solidFill>
            <a:srgbClr val="00B4D8"/>
          </a:solidFill>
          <a:ln/>
        </p:spPr>
      </p:sp>
      <p:sp>
        <p:nvSpPr>
          <p:cNvPr id="19" name="Shape 17"/>
          <p:cNvSpPr/>
          <p:nvPr/>
        </p:nvSpPr>
        <p:spPr>
          <a:xfrm>
            <a:off x="7955280" y="4846320"/>
            <a:ext cx="3474720" cy="685800"/>
          </a:xfrm>
          <a:prstGeom prst="roundRect">
            <a:avLst>
              <a:gd name="adj" fmla="val 10667"/>
            </a:avLst>
          </a:prstGeom>
          <a:solidFill>
            <a:srgbClr val="1E2761"/>
          </a:solidFill>
          <a:ln w="12700">
            <a:solidFill>
              <a:srgbClr val="3A6EA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0" y="484632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Model-Ready Input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" cy="31089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38912" y="310896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41248" y="310896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VIDEO SURVEILLANCE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1286439" y="256032"/>
            <a:ext cx="438912" cy="438912"/>
          </a:xfrm>
          <a:prstGeom prst="ellipse">
            <a:avLst/>
          </a:prstGeom>
          <a:ln w="28575">
            <a:solidFill>
              <a:srgbClr val="3A6EA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13724" y="383316"/>
            <a:ext cx="184343" cy="184343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86868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kern="0" spc="1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2: OBJECT DETECTION &amp; TRACKING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1783080"/>
            <a:ext cx="1054577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YOLO-based object detection to locate objects in each frame.</a:t>
            </a:r>
            <a:endParaRPr lang="en-US" sz="1450" dirty="0"/>
          </a:p>
          <a:p>
            <a:pPr marL="228600" indent="-228600" algn="l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people, vehicles, bags, and other relevant objects.</a:t>
            </a:r>
            <a:endParaRPr lang="en-US" sz="1450" dirty="0"/>
          </a:p>
          <a:p>
            <a:pPr marL="228600" indent="-228600" algn="l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Assigns bounding boxes and confidence scores to each detection.</a:t>
            </a:r>
            <a:endParaRPr lang="en-US" sz="1450" dirty="0"/>
          </a:p>
          <a:p>
            <a:pPr marL="228600" indent="-228600" algn="l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detected objects across consecutive frames using an object tracker.</a:t>
            </a:r>
            <a:endParaRPr lang="en-US" sz="1450" dirty="0"/>
          </a:p>
          <a:p>
            <a:pPr marL="228600" indent="-228600" algn="l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Maintains unique object IDs to understand movement over time.</a:t>
            </a:r>
            <a:endParaRPr lang="en-US" sz="1450" dirty="0"/>
          </a:p>
          <a:p>
            <a:pPr marL="228600" indent="-228600" algn="l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identify unusual movement patterns and object behaviour.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914400" y="4892040"/>
            <a:ext cx="2331720" cy="777240"/>
          </a:xfrm>
          <a:prstGeom prst="roundRect">
            <a:avLst>
              <a:gd name="adj" fmla="val 9412"/>
            </a:avLst>
          </a:prstGeom>
          <a:solidFill>
            <a:srgbClr val="EEF3FA"/>
          </a:solidFill>
          <a:ln w="15875">
            <a:solidFill>
              <a:srgbClr val="3A6E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48920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Frame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90011" y="5198364"/>
            <a:ext cx="277978" cy="164592"/>
          </a:xfrm>
          <a:prstGeom prst="rightArrow">
            <a:avLst/>
          </a:prstGeom>
          <a:solidFill>
            <a:srgbClr val="00B4D8"/>
          </a:solidFill>
          <a:ln/>
        </p:spPr>
      </p:sp>
      <p:sp>
        <p:nvSpPr>
          <p:cNvPr id="13" name="Shape 11"/>
          <p:cNvSpPr/>
          <p:nvPr/>
        </p:nvSpPr>
        <p:spPr>
          <a:xfrm>
            <a:off x="3611880" y="4892040"/>
            <a:ext cx="2331720" cy="777240"/>
          </a:xfrm>
          <a:prstGeom prst="roundRect">
            <a:avLst>
              <a:gd name="adj" fmla="val 9412"/>
            </a:avLst>
          </a:prstGeom>
          <a:solidFill>
            <a:srgbClr val="EEF3FA"/>
          </a:solidFill>
          <a:ln w="15875">
            <a:solidFill>
              <a:srgbClr val="3A6E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0" y="48920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Detection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987491" y="5198364"/>
            <a:ext cx="277978" cy="164592"/>
          </a:xfrm>
          <a:prstGeom prst="rightArrow">
            <a:avLst/>
          </a:prstGeom>
          <a:solidFill>
            <a:srgbClr val="00B4D8"/>
          </a:solidFill>
          <a:ln/>
        </p:spPr>
      </p:sp>
      <p:sp>
        <p:nvSpPr>
          <p:cNvPr id="16" name="Shape 14"/>
          <p:cNvSpPr/>
          <p:nvPr/>
        </p:nvSpPr>
        <p:spPr>
          <a:xfrm>
            <a:off x="6309360" y="4892040"/>
            <a:ext cx="2331720" cy="777240"/>
          </a:xfrm>
          <a:prstGeom prst="roundRect">
            <a:avLst>
              <a:gd name="adj" fmla="val 9412"/>
            </a:avLst>
          </a:prstGeom>
          <a:solidFill>
            <a:srgbClr val="EEF3FA"/>
          </a:solidFill>
          <a:ln w="15875">
            <a:solidFill>
              <a:srgbClr val="3A6EA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48920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Bounding Boxes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684971" y="5198364"/>
            <a:ext cx="277978" cy="164592"/>
          </a:xfrm>
          <a:prstGeom prst="rightArrow">
            <a:avLst/>
          </a:prstGeom>
          <a:solidFill>
            <a:srgbClr val="00B4D8"/>
          </a:solidFill>
          <a:ln/>
        </p:spPr>
      </p:sp>
      <p:sp>
        <p:nvSpPr>
          <p:cNvPr id="19" name="Shape 17"/>
          <p:cNvSpPr/>
          <p:nvPr/>
        </p:nvSpPr>
        <p:spPr>
          <a:xfrm>
            <a:off x="9006840" y="4892040"/>
            <a:ext cx="2331720" cy="777240"/>
          </a:xfrm>
          <a:prstGeom prst="roundRect">
            <a:avLst>
              <a:gd name="adj" fmla="val 9412"/>
            </a:avLst>
          </a:prstGeom>
          <a:solidFill>
            <a:srgbClr val="EEF3FA"/>
          </a:solidFill>
          <a:ln w="15875">
            <a:solidFill>
              <a:srgbClr val="3A6EA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52560" y="48920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Tracking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" cy="31089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38912" y="310896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41248" y="310896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VIDEO SURVEILLANCE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1286439" y="256032"/>
            <a:ext cx="438912" cy="438912"/>
          </a:xfrm>
          <a:prstGeom prst="ellipse">
            <a:avLst/>
          </a:prstGeom>
          <a:ln w="28575">
            <a:solidFill>
              <a:srgbClr val="3A6EA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13724" y="383316"/>
            <a:ext cx="184343" cy="184343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86868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kern="0" spc="1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3: ACTIVITY &amp; ANOMALY DETECTION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1737360"/>
            <a:ext cx="105457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behaviour is compared with predefined rules or learned patterns to flag potentially abnormal events (not a guarantee of intent or crime).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2423160"/>
            <a:ext cx="3520440" cy="960120"/>
          </a:xfrm>
          <a:prstGeom prst="roundRect">
            <a:avLst>
              <a:gd name="adj" fmla="val 7619"/>
            </a:avLst>
          </a:prstGeom>
          <a:solidFill>
            <a:srgbClr val="EEF3FA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87552" y="2802636"/>
            <a:ext cx="201168" cy="20116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2" name="Text 10"/>
          <p:cNvSpPr/>
          <p:nvPr/>
        </p:nvSpPr>
        <p:spPr>
          <a:xfrm>
            <a:off x="1325880" y="2423160"/>
            <a:ext cx="2834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Loitering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663440" y="2423160"/>
            <a:ext cx="3520440" cy="960120"/>
          </a:xfrm>
          <a:prstGeom prst="roundRect">
            <a:avLst>
              <a:gd name="adj" fmla="val 7619"/>
            </a:avLst>
          </a:prstGeom>
          <a:solidFill>
            <a:srgbClr val="EEF3FA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28032" y="2802636"/>
            <a:ext cx="201168" cy="20116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5" name="Text 13"/>
          <p:cNvSpPr/>
          <p:nvPr/>
        </p:nvSpPr>
        <p:spPr>
          <a:xfrm>
            <a:off x="5166360" y="2423160"/>
            <a:ext cx="2834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Unauthorized Entry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503920" y="2423160"/>
            <a:ext cx="3520440" cy="960120"/>
          </a:xfrm>
          <a:prstGeom prst="roundRect">
            <a:avLst>
              <a:gd name="adj" fmla="val 7619"/>
            </a:avLst>
          </a:prstGeom>
          <a:solidFill>
            <a:srgbClr val="EEF3FA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68512" y="2802636"/>
            <a:ext cx="201168" cy="20116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8" name="Text 16"/>
          <p:cNvSpPr/>
          <p:nvPr/>
        </p:nvSpPr>
        <p:spPr>
          <a:xfrm>
            <a:off x="9006840" y="2423160"/>
            <a:ext cx="2834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in Restricted Areas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22960" y="3657600"/>
            <a:ext cx="3520440" cy="960120"/>
          </a:xfrm>
          <a:prstGeom prst="roundRect">
            <a:avLst>
              <a:gd name="adj" fmla="val 7619"/>
            </a:avLst>
          </a:prstGeom>
          <a:solidFill>
            <a:srgbClr val="EEF3FA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87552" y="4037076"/>
            <a:ext cx="201168" cy="20116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1" name="Text 19"/>
          <p:cNvSpPr/>
          <p:nvPr/>
        </p:nvSpPr>
        <p:spPr>
          <a:xfrm>
            <a:off x="1325880" y="3657600"/>
            <a:ext cx="2834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 Formation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663440" y="3657600"/>
            <a:ext cx="3520440" cy="960120"/>
          </a:xfrm>
          <a:prstGeom prst="roundRect">
            <a:avLst>
              <a:gd name="adj" fmla="val 7619"/>
            </a:avLst>
          </a:prstGeom>
          <a:solidFill>
            <a:srgbClr val="EEF3FA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28032" y="4037076"/>
            <a:ext cx="201168" cy="20116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4" name="Text 22"/>
          <p:cNvSpPr/>
          <p:nvPr/>
        </p:nvSpPr>
        <p:spPr>
          <a:xfrm>
            <a:off x="5166360" y="3657600"/>
            <a:ext cx="2834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Sudden Unusual Movement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503920" y="3657600"/>
            <a:ext cx="3520440" cy="960120"/>
          </a:xfrm>
          <a:prstGeom prst="roundRect">
            <a:avLst>
              <a:gd name="adj" fmla="val 7619"/>
            </a:avLst>
          </a:prstGeom>
          <a:solidFill>
            <a:srgbClr val="EEF3FA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668512" y="4037076"/>
            <a:ext cx="201168" cy="20116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7" name="Text 25"/>
          <p:cNvSpPr/>
          <p:nvPr/>
        </p:nvSpPr>
        <p:spPr>
          <a:xfrm>
            <a:off x="9006840" y="3657600"/>
            <a:ext cx="2834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Abandoned Objects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22960" y="4892040"/>
            <a:ext cx="3520440" cy="960120"/>
          </a:xfrm>
          <a:prstGeom prst="roundRect">
            <a:avLst>
              <a:gd name="adj" fmla="val 7619"/>
            </a:avLst>
          </a:prstGeom>
          <a:solidFill>
            <a:srgbClr val="EEF3FA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87552" y="5271516"/>
            <a:ext cx="201168" cy="20116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0" name="Text 28"/>
          <p:cNvSpPr/>
          <p:nvPr/>
        </p:nvSpPr>
        <p:spPr>
          <a:xfrm>
            <a:off x="1325880" y="4892040"/>
            <a:ext cx="2834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Restricted-Area Access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" cy="31089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38912" y="310896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41248" y="310896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VIDEO SURVEILLANCE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1286439" y="256032"/>
            <a:ext cx="438912" cy="438912"/>
          </a:xfrm>
          <a:prstGeom prst="ellipse">
            <a:avLst/>
          </a:prstGeom>
          <a:ln w="28575">
            <a:solidFill>
              <a:srgbClr val="3A6EA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13724" y="383316"/>
            <a:ext cx="184343" cy="184343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86868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kern="0" spc="1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4: AUTOMATED ALERT &amp; NOTIFICATION SYSTEM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1783080"/>
            <a:ext cx="1054577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alerts automatically when suspicious events are detected.</a:t>
            </a:r>
            <a:endParaRPr lang="en-US" sz="1450" dirty="0"/>
          </a:p>
          <a:p>
            <a:pPr marL="228600" indent="-228600" algn="l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the exact time of the detected event.</a:t>
            </a:r>
            <a:endParaRPr lang="en-US" sz="1450" dirty="0"/>
          </a:p>
          <a:p>
            <a:pPr marL="228600" indent="-228600" algn="l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relevant video frames or a short clip as evidence.</a:t>
            </a:r>
            <a:endParaRPr lang="en-US" sz="1450" dirty="0"/>
          </a:p>
          <a:p>
            <a:pPr marL="228600" indent="-228600" algn="l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the alert instantly on the monitoring dashboard.</a:t>
            </a:r>
            <a:endParaRPr lang="en-US" sz="1450" dirty="0"/>
          </a:p>
          <a:p>
            <a:pPr marL="228600" indent="-228600" algn="l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security personnel respond quickly to incidents.</a:t>
            </a:r>
            <a:endParaRPr lang="en-US" sz="1450" dirty="0"/>
          </a:p>
          <a:p>
            <a:pPr marL="228600" indent="-228600" algn="l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Maintains an event log for later review and audit.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2011680" y="4892040"/>
            <a:ext cx="2103120" cy="777240"/>
          </a:xfrm>
          <a:prstGeom prst="roundRect">
            <a:avLst>
              <a:gd name="adj" fmla="val 9412"/>
            </a:avLst>
          </a:prstGeom>
          <a:solidFill>
            <a:srgbClr val="EEF3FA"/>
          </a:solidFill>
          <a:ln w="15875">
            <a:solidFill>
              <a:srgbClr val="3A6E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57400" y="489204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58691" y="5198364"/>
            <a:ext cx="277978" cy="164592"/>
          </a:xfrm>
          <a:prstGeom prst="rightArrow">
            <a:avLst/>
          </a:prstGeom>
          <a:solidFill>
            <a:srgbClr val="00B4D8"/>
          </a:solidFill>
          <a:ln/>
        </p:spPr>
      </p:sp>
      <p:sp>
        <p:nvSpPr>
          <p:cNvPr id="13" name="Shape 11"/>
          <p:cNvSpPr/>
          <p:nvPr/>
        </p:nvSpPr>
        <p:spPr>
          <a:xfrm>
            <a:off x="4480560" y="4892040"/>
            <a:ext cx="2103120" cy="777240"/>
          </a:xfrm>
          <a:prstGeom prst="roundRect">
            <a:avLst>
              <a:gd name="adj" fmla="val 9412"/>
            </a:avLst>
          </a:prstGeom>
          <a:solidFill>
            <a:srgbClr val="EEF3FA"/>
          </a:solidFill>
          <a:ln w="15875">
            <a:solidFill>
              <a:srgbClr val="3A6E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26280" y="489204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627571" y="5198364"/>
            <a:ext cx="277978" cy="164592"/>
          </a:xfrm>
          <a:prstGeom prst="rightArrow">
            <a:avLst/>
          </a:prstGeom>
          <a:solidFill>
            <a:srgbClr val="00B4D8"/>
          </a:solidFill>
          <a:ln/>
        </p:spPr>
      </p:sp>
      <p:sp>
        <p:nvSpPr>
          <p:cNvPr id="16" name="Shape 14"/>
          <p:cNvSpPr/>
          <p:nvPr/>
        </p:nvSpPr>
        <p:spPr>
          <a:xfrm>
            <a:off x="6949440" y="4892040"/>
            <a:ext cx="2103120" cy="777240"/>
          </a:xfrm>
          <a:prstGeom prst="roundRect">
            <a:avLst>
              <a:gd name="adj" fmla="val 9412"/>
            </a:avLst>
          </a:prstGeom>
          <a:solidFill>
            <a:srgbClr val="EEF3FA"/>
          </a:solidFill>
          <a:ln w="15875">
            <a:solidFill>
              <a:srgbClr val="3A6EA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95160" y="489204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096451" y="5198364"/>
            <a:ext cx="277978" cy="164592"/>
          </a:xfrm>
          <a:prstGeom prst="rightArrow">
            <a:avLst/>
          </a:prstGeom>
          <a:solidFill>
            <a:srgbClr val="00B4D8"/>
          </a:solidFill>
          <a:ln/>
        </p:spPr>
      </p:sp>
      <p:sp>
        <p:nvSpPr>
          <p:cNvPr id="19" name="Shape 17"/>
          <p:cNvSpPr/>
          <p:nvPr/>
        </p:nvSpPr>
        <p:spPr>
          <a:xfrm>
            <a:off x="9418320" y="4892040"/>
            <a:ext cx="2103120" cy="777240"/>
          </a:xfrm>
          <a:prstGeom prst="roundRect">
            <a:avLst>
              <a:gd name="adj" fmla="val 9412"/>
            </a:avLst>
          </a:prstGeom>
          <a:solidFill>
            <a:srgbClr val="EEF3FA"/>
          </a:solidFill>
          <a:ln w="15875">
            <a:solidFill>
              <a:srgbClr val="3A6EA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64040" y="489204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Log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" cy="31089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38912" y="310896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41248" y="310896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VIDEO SURVEILLANCE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1286439" y="256032"/>
            <a:ext cx="438912" cy="438912"/>
          </a:xfrm>
          <a:prstGeom prst="ellipse">
            <a:avLst/>
          </a:prstGeom>
          <a:ln w="28575">
            <a:solidFill>
              <a:srgbClr val="3A6EA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13724" y="383316"/>
            <a:ext cx="184343" cy="184343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86868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kern="0" spc="1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5: MONITORING DASHBOARD &amp; REPORTS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05840" y="1783080"/>
            <a:ext cx="10180015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lnSpc>
                <a:spcPct val="108000"/>
              </a:lnSpc>
              <a:spcAft>
                <a:spcPts val="1500"/>
              </a:spcAft>
              <a:buSzPct val="100000"/>
              <a:buChar char="•"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live or recorded video with detection overlays.</a:t>
            </a:r>
            <a:endParaRPr lang="en-US" sz="1500" dirty="0"/>
          </a:p>
          <a:p>
            <a:pPr marL="228600" indent="-228600" algn="l">
              <a:lnSpc>
                <a:spcPct val="108000"/>
              </a:lnSpc>
              <a:spcAft>
                <a:spcPts val="1500"/>
              </a:spcAft>
              <a:buSzPct val="100000"/>
              <a:buChar char="•"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detected objects, tracking IDs, and movement information.</a:t>
            </a:r>
            <a:endParaRPr lang="en-US" sz="1500" dirty="0"/>
          </a:p>
          <a:p>
            <a:pPr marL="228600" indent="-228600" algn="l">
              <a:lnSpc>
                <a:spcPct val="108000"/>
              </a:lnSpc>
              <a:spcAft>
                <a:spcPts val="1500"/>
              </a:spcAft>
              <a:buSzPct val="100000"/>
              <a:buChar char="•"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currently active alerts on a single dashboard view.</a:t>
            </a:r>
            <a:endParaRPr lang="en-US" sz="1500" dirty="0"/>
          </a:p>
          <a:p>
            <a:pPr marL="228600" indent="-228600" algn="l">
              <a:lnSpc>
                <a:spcPct val="108000"/>
              </a:lnSpc>
              <a:spcAft>
                <a:spcPts val="1500"/>
              </a:spcAft>
              <a:buSzPct val="100000"/>
              <a:buChar char="•"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a searchable history of detected events over time.</a:t>
            </a:r>
            <a:endParaRPr lang="en-US" sz="1500" dirty="0"/>
          </a:p>
          <a:p>
            <a:pPr marL="228600" indent="-228600" algn="l">
              <a:lnSpc>
                <a:spcPct val="108000"/>
              </a:lnSpc>
              <a:spcAft>
                <a:spcPts val="1500"/>
              </a:spcAft>
              <a:buSzPct val="100000"/>
              <a:buChar char="•"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timestamps and details for every logged event.</a:t>
            </a:r>
            <a:endParaRPr lang="en-US" sz="1500" dirty="0"/>
          </a:p>
          <a:p>
            <a:pPr marL="228600" indent="-228600" algn="l">
              <a:lnSpc>
                <a:spcPct val="108000"/>
              </a:lnSpc>
              <a:spcAft>
                <a:spcPts val="1500"/>
              </a:spcAft>
              <a:buSzPct val="100000"/>
              <a:buChar char="•"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simple reports to support security analysis and review.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" cy="31089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38912" y="310896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41248" y="310896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VIDEO SURVEILLANCE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1286439" y="256032"/>
            <a:ext cx="438912" cy="438912"/>
          </a:xfrm>
          <a:prstGeom prst="ellipse">
            <a:avLst/>
          </a:prstGeom>
          <a:ln w="28575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13724" y="383316"/>
            <a:ext cx="184343" cy="184343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86868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kern="0" spc="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188720" y="1920240"/>
            <a:ext cx="9814255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550" dirty="0">
                <a:solidFill>
                  <a:srgbClr val="E7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Video Surveillance combines Computer Vision and AI for intelligent monitoring.</a:t>
            </a:r>
            <a:endParaRPr lang="en-US" sz="1550" dirty="0"/>
          </a:p>
          <a:p>
            <a:pPr marL="228600" indent="-228600" algn="l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550" dirty="0">
                <a:solidFill>
                  <a:srgbClr val="E7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detects and tracks objects across live video streams.</a:t>
            </a:r>
            <a:endParaRPr lang="en-US" sz="1550" dirty="0"/>
          </a:p>
          <a:p>
            <a:pPr marL="228600" indent="-228600" algn="l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550" dirty="0">
                <a:solidFill>
                  <a:srgbClr val="E7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activity analysis helps identify potentially suspicious events.</a:t>
            </a:r>
            <a:endParaRPr lang="en-US" sz="1550" dirty="0"/>
          </a:p>
          <a:p>
            <a:pPr marL="228600" indent="-228600" algn="l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550" dirty="0">
                <a:solidFill>
                  <a:srgbClr val="E7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alerts reduce the need for continuous manual monitoring.</a:t>
            </a:r>
            <a:endParaRPr lang="en-US" sz="1550" dirty="0"/>
          </a:p>
          <a:p>
            <a:pPr marL="228600" indent="-228600" algn="l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550" dirty="0">
                <a:solidFill>
                  <a:srgbClr val="E7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improves surveillance efficiency and response time.</a:t>
            </a:r>
            <a:endParaRPr lang="en-US" sz="1550" dirty="0"/>
          </a:p>
          <a:p>
            <a:pPr marL="228600" indent="-228600" algn="l">
              <a:lnSpc>
                <a:spcPct val="108000"/>
              </a:lnSpc>
              <a:spcAft>
                <a:spcPts val="1600"/>
              </a:spcAft>
              <a:buSzPct val="100000"/>
              <a:buChar char="•"/>
            </a:pPr>
            <a:r>
              <a:rPr lang="en-US" sz="1550" dirty="0">
                <a:solidFill>
                  <a:srgbClr val="E7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 support security monitoring in both public and private environments.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" cy="31089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38912" y="310896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41248" y="310896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VIDEO SURVEILLANCE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1286439" y="256032"/>
            <a:ext cx="438912" cy="438912"/>
          </a:xfrm>
          <a:prstGeom prst="ellipse">
            <a:avLst/>
          </a:prstGeom>
          <a:ln w="28575">
            <a:solidFill>
              <a:srgbClr val="3A6EA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13724" y="383316"/>
            <a:ext cx="184343" cy="184343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86868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kern="0" spc="1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14400" y="1874520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lnSpc>
                <a:spcPct val="108000"/>
              </a:lnSpc>
              <a:spcAft>
                <a:spcPts val="2000"/>
              </a:spcAft>
              <a:buSzPct val="100000"/>
              <a:buChar char="•"/>
            </a:pPr>
            <a:r>
              <a:rPr lang="en-US" sz="14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anomaly detection using advanced deep learning models.</a:t>
            </a:r>
            <a:endParaRPr lang="en-US" sz="1450" dirty="0"/>
          </a:p>
          <a:p>
            <a:pPr marL="228600" indent="-228600" algn="l">
              <a:lnSpc>
                <a:spcPct val="108000"/>
              </a:lnSpc>
              <a:spcAft>
                <a:spcPts val="2000"/>
              </a:spcAft>
              <a:buSzPct val="100000"/>
              <a:buChar char="•"/>
            </a:pPr>
            <a:r>
              <a:rPr lang="en-US" sz="14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multi-camera, wide-area surveillance networks.</a:t>
            </a:r>
            <a:endParaRPr lang="en-US" sz="1450" dirty="0"/>
          </a:p>
          <a:p>
            <a:pPr marL="228600" indent="-228600" algn="l">
              <a:lnSpc>
                <a:spcPct val="108000"/>
              </a:lnSpc>
              <a:spcAft>
                <a:spcPts val="2000"/>
              </a:spcAft>
              <a:buSzPct val="100000"/>
              <a:buChar char="•"/>
            </a:pPr>
            <a:r>
              <a:rPr lang="en-US" sz="14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real-time performance on low-power edge devices.</a:t>
            </a:r>
            <a:endParaRPr lang="en-US" sz="1450" dirty="0"/>
          </a:p>
          <a:p>
            <a:pPr marL="228600" indent="-228600" algn="l">
              <a:lnSpc>
                <a:spcPct val="108000"/>
              </a:lnSpc>
              <a:spcAft>
                <a:spcPts val="2000"/>
              </a:spcAft>
              <a:buSzPct val="100000"/>
              <a:buChar char="•"/>
            </a:pPr>
            <a:r>
              <a:rPr lang="en-US" sz="14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stronger, more nuanced behaviour-recognition capabilities.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309360" y="1874520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lnSpc>
                <a:spcPct val="108000"/>
              </a:lnSpc>
              <a:spcAft>
                <a:spcPts val="2000"/>
              </a:spcAft>
              <a:buSzPct val="100000"/>
              <a:buChar char="•"/>
            </a:pPr>
            <a:r>
              <a:rPr lang="en-US" sz="14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with IoT-based security and access-control systems.</a:t>
            </a:r>
            <a:endParaRPr lang="en-US" sz="1450" dirty="0"/>
          </a:p>
          <a:p>
            <a:pPr marL="228600" indent="-228600" algn="l">
              <a:lnSpc>
                <a:spcPct val="108000"/>
              </a:lnSpc>
              <a:spcAft>
                <a:spcPts val="2000"/>
              </a:spcAft>
              <a:buSzPct val="100000"/>
              <a:buChar char="•"/>
            </a:pPr>
            <a:r>
              <a:rPr lang="en-US" sz="14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mobile applications for instant security alerts.</a:t>
            </a:r>
            <a:endParaRPr lang="en-US" sz="1450" dirty="0"/>
          </a:p>
          <a:p>
            <a:pPr marL="228600" indent="-228600" algn="l">
              <a:lnSpc>
                <a:spcPct val="108000"/>
              </a:lnSpc>
              <a:spcAft>
                <a:spcPts val="2000"/>
              </a:spcAft>
              <a:buSzPct val="100000"/>
              <a:buChar char="•"/>
            </a:pPr>
            <a:r>
              <a:rPr lang="en-US" sz="14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privacy-preserving techniques such as on-device processing.</a:t>
            </a:r>
            <a:endParaRPr lang="en-US" sz="1450" dirty="0"/>
          </a:p>
          <a:p>
            <a:pPr marL="228600" indent="-228600" algn="l">
              <a:lnSpc>
                <a:spcPct val="108000"/>
              </a:lnSpc>
              <a:spcAft>
                <a:spcPts val="2000"/>
              </a:spcAft>
              <a:buSzPct val="100000"/>
              <a:buChar char="•"/>
            </a:pPr>
            <a:r>
              <a:rPr lang="en-US" sz="14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accuracy using larger and more diverse training datasets.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089904" y="1920240"/>
            <a:ext cx="0" cy="3840480"/>
          </a:xfrm>
          <a:prstGeom prst="line">
            <a:avLst/>
          </a:prstGeom>
          <a:noFill/>
          <a:ln w="15875">
            <a:solidFill>
              <a:srgbClr val="D8E0EC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" cy="31089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38912" y="310896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41248" y="310896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VIDEO SURVEILLANCE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1286439" y="256032"/>
            <a:ext cx="438912" cy="438912"/>
          </a:xfrm>
          <a:prstGeom prst="ellipse">
            <a:avLst/>
          </a:prstGeom>
          <a:ln w="28575">
            <a:solidFill>
              <a:srgbClr val="3A6EA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13724" y="383316"/>
            <a:ext cx="184343" cy="184343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86868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kern="0" spc="1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1828800"/>
            <a:ext cx="10545775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Redmon, J., Divvala, S., Girshick, R., &amp; Farhadi, A. (2016). </a:t>
            </a:r>
            <a:r>
              <a:rPr lang="en-US" sz="1250" i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Only Look Once: Unified, Real-Time Object Detection.</a:t>
            </a: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IEEE CVPR.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Bewley, A., Ge, Z., Ott, L., Ramos, F., &amp; Upcroft, B. (2016). </a:t>
            </a:r>
            <a:r>
              <a:rPr lang="en-US" sz="1250" i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Online and Realtime Tracking (SORT).</a:t>
            </a: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IEEE ICIP.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Zhang, Y., Sun, P., Jiang, Y., et al. (2022). </a:t>
            </a:r>
            <a:r>
              <a:rPr lang="en-US" sz="1250" i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ByteTrack: Multi-Object Tracking by Associating Every Detection Box.</a:t>
            </a: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ECCV.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Sultani, W., Chen, C., &amp; Shah, M. (2018). </a:t>
            </a:r>
            <a:r>
              <a:rPr lang="en-US" sz="1250" i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Anomaly Detection in Surveillance Videos.</a:t>
            </a: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IEEE CVPR.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Ramachandra, B., &amp; Jones, M. (2020). </a:t>
            </a:r>
            <a:r>
              <a:rPr lang="en-US" sz="1250" i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Survey of Single-Scene Video Anomaly Detection.</a:t>
            </a: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IEEE TPAMI.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Documentation. </a:t>
            </a: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Computer Vision Library. </a:t>
            </a:r>
            <a:r>
              <a:rPr lang="en-US" sz="1250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https://docs.opencv.org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 Dataset. </a:t>
            </a: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Objects in Context. </a:t>
            </a:r>
            <a:r>
              <a:rPr lang="en-US" sz="1250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https://cocodataset.org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55768" y="2011680"/>
            <a:ext cx="1280160" cy="1280160"/>
          </a:xfrm>
          <a:prstGeom prst="ellipse">
            <a:avLst/>
          </a:prstGeom>
          <a:ln w="28575">
            <a:solidFill>
              <a:srgbClr val="CADC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827014" y="2382926"/>
            <a:ext cx="537667" cy="537667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356616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kern="0" spc="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0" y="434340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Video Surveillance  ·  Questions &amp; Discussion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1263</Words>
  <Application>Microsoft Office PowerPoint</Application>
  <PresentationFormat>Widescreen</PresentationFormat>
  <Paragraphs>230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Cambria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gunalan V</cp:lastModifiedBy>
  <cp:revision>2</cp:revision>
  <dcterms:created xsi:type="dcterms:W3CDTF">2026-08-21T12:07:08Z</dcterms:created>
  <dcterms:modified xsi:type="dcterms:W3CDTF">2026-08-21T12:12:14Z</dcterms:modified>
</cp:coreProperties>
</file>