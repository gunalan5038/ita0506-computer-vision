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3" r:id="rId6"/>
    <p:sldId id="264" r:id="rId7"/>
    <p:sldId id="270" r:id="rId8"/>
    <p:sldId id="272" r:id="rId9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A8CF-EC37-22E4-69B9-288B86E2D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6EF56-09B6-4395-7A54-6BE49FB9C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372F1-319E-3919-5726-2B2F0839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20D93-DC4E-32F2-8A98-ABBA6E1B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62A95-40BE-F536-9490-4BDB7C08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338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724D4-31E3-E6F5-F714-25F72398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5C71F-B45D-12F6-BB2F-B3210FEEC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E2CA1-D22E-E42E-503B-9F26E5AA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BC691-8DB0-D236-841E-8CB1A2484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97222-1E3C-E6AB-EB6D-F57C4218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426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1300D-1BFF-5404-DA6B-BF5EFCD9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2DB16-53B4-7978-CFCB-5EECCAB5C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46E0D-A971-FFA7-BADC-8FAD671E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8F990-CA7F-1836-9A47-BAB9EE93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BC80E-64C1-B021-1868-0E883C41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14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2749-A453-3E8E-167E-A967C8BA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F57A9-038F-E2D4-3B5A-12202D9DC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5E342-A819-3EEA-A7C6-6C7E137C6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0CC3A-973D-113D-22CD-F5E29FB2C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B5F30-672F-A7C9-D8F8-A00079649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6F2B8-4B14-7C85-5714-1E08EBDFE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71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0C11-AE39-5BE5-8EC8-855A2428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0619B-BB34-3634-5713-96D9A7058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BD188-2837-92E7-BC1A-8FF274058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7A316A-A8FF-EAD9-D6AA-5C91479DC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6F55C-50FC-D6DA-1652-BFF53DA89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3CD241-DBA0-FE3C-B679-0D9F3FCD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E2105F-7322-2106-FBF9-3E2A06B6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6CF42-4722-FF78-DA19-DDC125BB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176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A012-5AFC-99B4-AFBE-271C720F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209A3-D59B-BB3C-CA02-3A45C733D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FE1FA-D5A5-DD66-F630-00E07F781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DB0D6-C7C2-A15F-5E26-16CA8F8E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60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5437B-B94F-98E4-0E14-D7EFDC55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627B6-99A8-97D4-7E10-05EF259F6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F3E11-D0EC-B4AA-5422-1FA2E51B2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1D468-2A3E-4367-8B04-E31A8AA5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B0173-8E2A-B9BA-3485-C9D25D2F5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DD843-44A9-5E59-C607-58352B925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3DEDB-6AD9-DE0D-2042-B650E764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84622-99B3-38AA-C73A-30EDA4D32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F745D-E97E-23FD-BB2A-0768F62B9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296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4CEE-BB02-5D10-7834-3816FA55B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5E3284-5135-46A7-3922-0953E200E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D94D2-46AF-4EF2-ECC0-E790E0079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29002-556D-C099-2C2F-D9BF23E0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64A3F-6454-F3DC-223D-791F45B99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1D423-EDEB-447B-1FA3-8D7F8B483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4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555E2-7029-8559-D7C9-DEA875505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523C3-ADCF-071D-3196-A5FC37391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5CC4E-6BC6-C0EE-3646-EC528363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4839A-5C42-7177-2794-8F9C44CE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264C7-380C-B704-F512-C833D6B7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29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63377-BA49-5468-6B46-2CDBDC714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8AE0C-41ED-BFF7-6392-36DEC4799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0671E-8990-9B8F-F70F-2F7ADA30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AD368-9720-CAEF-3848-4340A1FE6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13CAA-5A62-8ED7-F8BE-EA617C94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593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52A6C1-9B15-EA9C-D35B-04D6FF6B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CD0F0-2C94-C2DD-A2B5-A2F54F5DD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515CC-8A4A-E7EE-5FDD-A79A104D4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71236-D3C8-499D-9E56-FF5D990BB76F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987B0-1493-C9B6-868C-E38C02142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EA92A-83D4-4104-703A-760FB80D0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907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Google Shape;4101;p1"/>
          <p:cNvSpPr txBox="1"/>
          <p:nvPr/>
        </p:nvSpPr>
        <p:spPr>
          <a:xfrm>
            <a:off x="970762" y="3207736"/>
            <a:ext cx="103953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2800" b="1" dirty="0"/>
              <a:t>Investigating the Impact of Environmental Conditions on Image Acquisition</a:t>
            </a:r>
            <a:endParaRPr b="1" dirty="0"/>
          </a:p>
        </p:txBody>
      </p:sp>
      <p:sp>
        <p:nvSpPr>
          <p:cNvPr id="4102" name="Google Shape;4102;p1"/>
          <p:cNvSpPr txBox="1"/>
          <p:nvPr/>
        </p:nvSpPr>
        <p:spPr>
          <a:xfrm>
            <a:off x="323088" y="4493290"/>
            <a:ext cx="4304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</a:t>
            </a:r>
            <a:endParaRPr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R.C.JENI GRACIA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3" name="Google Shape;4103;p1"/>
          <p:cNvSpPr txBox="1"/>
          <p:nvPr/>
        </p:nvSpPr>
        <p:spPr>
          <a:xfrm>
            <a:off x="7772400" y="4484146"/>
            <a:ext cx="40964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192325038 - GUNALAN V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4" name="Google Shape;4104;p1"/>
          <p:cNvSpPr txBox="1"/>
          <p:nvPr/>
        </p:nvSpPr>
        <p:spPr>
          <a:xfrm>
            <a:off x="1641987" y="2295696"/>
            <a:ext cx="89079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ITA0506 - COMPUTER VISION</a:t>
            </a:r>
          </a:p>
          <a:p>
            <a:br>
              <a:rPr lang="en-IN" sz="3200" dirty="0"/>
            </a:br>
            <a:endParaRPr dirty="0"/>
          </a:p>
        </p:txBody>
      </p:sp>
      <p:pic>
        <p:nvPicPr>
          <p:cNvPr id="4105" name="Google Shape;4105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1781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F59C9-5B7D-71E0-07D5-068AF24C9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4F9B9B-D9B5-DF98-ACB3-48423903382D}"/>
              </a:ext>
            </a:extLst>
          </p:cNvPr>
          <p:cNvSpPr txBox="1"/>
          <p:nvPr/>
        </p:nvSpPr>
        <p:spPr>
          <a:xfrm>
            <a:off x="372101" y="1457119"/>
            <a:ext cx="1144779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Image acquisition is the first stage of any computer vision system. The quality of captured images directly affects object detection, recognition, segmentation, and classification accuracy.</a:t>
            </a:r>
          </a:p>
          <a:p>
            <a:r>
              <a:rPr lang="en-IN" sz="2400" b="1" dirty="0"/>
              <a:t>Environmental conditions such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Lighting intensity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Shadows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Weather (rain, fog, snow)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Camera angle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Motion blur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Background clutter </a:t>
            </a:r>
          </a:p>
          <a:p>
            <a:r>
              <a:rPr lang="en-IN" sz="2400" dirty="0"/>
              <a:t>can significantly reduce image quality and lead to incorrect computer vision results.</a:t>
            </a:r>
          </a:p>
          <a:p>
            <a:r>
              <a:rPr lang="en-IN" sz="2400" dirty="0"/>
              <a:t>Understanding these factors helps develop more robust and reliable vision systems for real-world applications.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7CED7-705E-3F97-B456-C02FB4A69B3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15CBAC-9C47-5A6D-C0F7-CD36B6EEF63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839C90-8BAF-03D2-5086-0BDFFCEF58EA}"/>
              </a:ext>
            </a:extLst>
          </p:cNvPr>
          <p:cNvSpPr txBox="1"/>
          <p:nvPr/>
        </p:nvSpPr>
        <p:spPr>
          <a:xfrm>
            <a:off x="4216102" y="570770"/>
            <a:ext cx="4180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27693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5D703-7E9C-BF25-482D-2919ADD4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BFDC97-37EA-C8BB-B933-7457129544A7}"/>
              </a:ext>
            </a:extLst>
          </p:cNvPr>
          <p:cNvSpPr txBox="1"/>
          <p:nvPr/>
        </p:nvSpPr>
        <p:spPr>
          <a:xfrm>
            <a:off x="425238" y="1602901"/>
            <a:ext cx="1112824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Computer vision systems often fail when images are captured under challenging environmental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r>
              <a:rPr lang="en-IN" sz="2400" b="1" dirty="0"/>
              <a:t>Common issues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Poor illumination causing loss of details.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Rain and fog reducing image visibility.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Motion blur due to camera or object movement.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Shadows creating false object boundaries.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Reflections causing incorrect feature detection.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Different weather conditions reducing recognition accuracy.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r>
              <a:rPr lang="en-IN" sz="2400" dirty="0"/>
              <a:t>These challenges affect applications such as autonomous vehicles, surveillance, healthcare, agriculture, and robotics.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0FBA2-4973-54FF-B9E1-37A3668279B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1419C8-0176-BB58-1151-D5001FF2B0E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02E6A6-FF3C-1BBB-FCB8-57B4FDA77658}"/>
              </a:ext>
            </a:extLst>
          </p:cNvPr>
          <p:cNvSpPr txBox="1"/>
          <p:nvPr/>
        </p:nvSpPr>
        <p:spPr>
          <a:xfrm>
            <a:off x="2941362" y="42319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083475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937F0-2EAE-55D1-6BED-D28B49DA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1FA1AA-086A-F6D8-8B3C-0AAF173855C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F662FD-111C-9CFD-28E7-16E8F4CD751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AF8F35-933E-61F4-9E45-DD1569BD6694}"/>
              </a:ext>
            </a:extLst>
          </p:cNvPr>
          <p:cNvSpPr txBox="1"/>
          <p:nvPr/>
        </p:nvSpPr>
        <p:spPr>
          <a:xfrm>
            <a:off x="307848" y="1695424"/>
            <a:ext cx="115763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Environmental Conditions</a:t>
            </a:r>
          </a:p>
          <a:p>
            <a:endParaRPr lang="en-IN" sz="2400" b="1" dirty="0"/>
          </a:p>
          <a:p>
            <a:r>
              <a:rPr lang="en-IN" sz="2400" b="1" dirty="0"/>
              <a:t>Lighting:</a:t>
            </a:r>
            <a:r>
              <a:rPr lang="en-IN" sz="2400" dirty="0"/>
              <a:t> Low light, Overexposure, Uneven illumination </a:t>
            </a:r>
          </a:p>
          <a:p>
            <a:r>
              <a:rPr lang="en-IN" sz="2400" b="1" dirty="0"/>
              <a:t>Weather:</a:t>
            </a:r>
            <a:r>
              <a:rPr lang="en-IN" sz="2400" dirty="0"/>
              <a:t> Rain, Fog, Snow, Dust </a:t>
            </a:r>
          </a:p>
          <a:p>
            <a:r>
              <a:rPr lang="en-IN" sz="2400" b="1" dirty="0"/>
              <a:t>Camera Factors:</a:t>
            </a:r>
            <a:r>
              <a:rPr lang="en-IN" sz="2400" dirty="0"/>
              <a:t> Motion blur, Lens distortion, Incorrect focus </a:t>
            </a:r>
          </a:p>
          <a:p>
            <a:r>
              <a:rPr lang="en-IN" sz="2400" b="1" dirty="0"/>
              <a:t>Scene Conditions:</a:t>
            </a:r>
            <a:r>
              <a:rPr lang="en-IN" sz="2400" dirty="0"/>
              <a:t> Shadows, Reflections, Occlusion, Complex backgrounds </a:t>
            </a:r>
          </a:p>
          <a:p>
            <a:endParaRPr lang="en-IN" sz="2400" dirty="0"/>
          </a:p>
          <a:p>
            <a:r>
              <a:rPr lang="en-IN" sz="2400" b="1" dirty="0"/>
              <a:t>Impact:</a:t>
            </a:r>
            <a:endParaRPr lang="en-IN" sz="2400" dirty="0"/>
          </a:p>
          <a:p>
            <a:r>
              <a:rPr lang="en-IN" sz="2400" dirty="0"/>
              <a:t>Introduces noise, reduces image quality, lowers contrast, and makes feature extraction more difficult. </a:t>
            </a:r>
          </a:p>
          <a:p>
            <a:r>
              <a:rPr lang="en-IN" sz="2400" dirty="0"/>
              <a:t>This version is much more compact, cleaner, and presentation-friendly while retaining all the important information.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FDA89-2EB1-C7B3-4854-787FBE85E388}"/>
              </a:ext>
            </a:extLst>
          </p:cNvPr>
          <p:cNvSpPr txBox="1"/>
          <p:nvPr/>
        </p:nvSpPr>
        <p:spPr>
          <a:xfrm>
            <a:off x="1320799" y="392415"/>
            <a:ext cx="942711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IN" sz="4000" b="1" dirty="0"/>
              <a:t>Environmental Factors Affecting Image Acquisition</a:t>
            </a:r>
            <a:endParaRPr lang="en-IN" sz="400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581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8563C-F40B-6B10-1659-E277B2209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A73140-0318-0D1E-F303-F13F438DB37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1BB6AF-A013-85AA-8D17-5E006822338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811CE7-07C9-265D-E21B-7A1F567DE4A5}"/>
              </a:ext>
            </a:extLst>
          </p:cNvPr>
          <p:cNvSpPr txBox="1"/>
          <p:nvPr/>
        </p:nvSpPr>
        <p:spPr>
          <a:xfrm>
            <a:off x="1592827" y="440609"/>
            <a:ext cx="9340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3600" b="1" dirty="0"/>
              <a:t>Visual Analysis and Investigation</a:t>
            </a:r>
            <a:endParaRPr lang="en-IN" sz="3600" b="1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7B979-BFCF-F1AA-FDBA-2B3CCBB18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203" y="1225689"/>
            <a:ext cx="1145031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Visual Evidence and Analysis</a:t>
            </a:r>
          </a:p>
          <a:p>
            <a:r>
              <a:rPr lang="en-IN" sz="2400" dirty="0"/>
              <a:t>Different environmental conditions produce different image characteristics.</a:t>
            </a:r>
          </a:p>
          <a:p>
            <a:r>
              <a:rPr lang="en-IN" sz="2400" b="1" dirty="0"/>
              <a:t>Examples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Bright sunlight creates harsh shadows.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Fog reduces contrast between objects.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Rain introduces streaks and reflections.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Low light increases image noise.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Motion causes blurred object edges. </a:t>
            </a:r>
          </a:p>
          <a:p>
            <a:r>
              <a:rPr lang="en-IN" sz="2400" b="1" dirty="0"/>
              <a:t>Image processing techniques used to </a:t>
            </a:r>
            <a:r>
              <a:rPr lang="en-IN" sz="2400" b="1" dirty="0" err="1"/>
              <a:t>analyze</a:t>
            </a:r>
            <a:r>
              <a:rPr lang="en-IN" sz="2400" b="1" dirty="0"/>
              <a:t> these effects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Histogram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Edge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Contrast Enhancement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Noise Reduction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Image Filtering </a:t>
            </a:r>
          </a:p>
          <a:p>
            <a:r>
              <a:rPr lang="en-IN" sz="2400" dirty="0"/>
              <a:t>These tools help evaluate how environmental conditions affect image quality.</a:t>
            </a:r>
          </a:p>
        </p:txBody>
      </p:sp>
    </p:spTree>
    <p:extLst>
      <p:ext uri="{BB962C8B-B14F-4D97-AF65-F5344CB8AC3E}">
        <p14:creationId xmlns:p14="http://schemas.microsoft.com/office/powerpoint/2010/main" val="2428214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BE7F2-AB4F-0C9B-E44A-7401926D8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852865-AC00-D3C8-633A-31FC1880B1C7}"/>
              </a:ext>
            </a:extLst>
          </p:cNvPr>
          <p:cNvSpPr txBox="1"/>
          <p:nvPr/>
        </p:nvSpPr>
        <p:spPr>
          <a:xfrm>
            <a:off x="260505" y="1452633"/>
            <a:ext cx="116709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Applications and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Environmental-aware image acquisition improves the performance of: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Autonomous Vehicles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Traffic Monitoring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Medical Imaging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Face Recognition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Agricultural Monitoring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Industrial Inspection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Security and Surveillance </a:t>
            </a:r>
          </a:p>
          <a:p>
            <a:r>
              <a:rPr lang="en-IN" sz="2400" b="1" dirty="0"/>
              <a:t>Key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Proper lighting significantly improves recognition accuracy.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Image enhancement techniques reduce environmental effects.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Robust computer vision models perform better under varying conditions.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Dataset diversity improves model generalization.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07876-99FA-B251-D758-C9C0BE7491C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E40058-15E8-2673-D41B-7DD51984743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DF434D-4114-29AB-9E02-0DABA31E5692}"/>
              </a:ext>
            </a:extLst>
          </p:cNvPr>
          <p:cNvSpPr txBox="1"/>
          <p:nvPr/>
        </p:nvSpPr>
        <p:spPr>
          <a:xfrm>
            <a:off x="1946787" y="440609"/>
            <a:ext cx="89866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3600" b="1" dirty="0"/>
              <a:t>Real-World Applications and Findings</a:t>
            </a:r>
            <a:endParaRPr lang="en-IN" sz="3600" b="1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55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F266E-862A-0802-2A3F-971F8875D454}"/>
              </a:ext>
            </a:extLst>
          </p:cNvPr>
          <p:cNvSpPr txBox="1"/>
          <p:nvPr/>
        </p:nvSpPr>
        <p:spPr>
          <a:xfrm>
            <a:off x="411480" y="1778212"/>
            <a:ext cx="114757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Environmental conditions have a major impact on image acquisition and the performance of computer vision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By studying lighting, weather, camera settings, and scene complexity, we can identify real-world challenges and improve image quality using appropriate preprocessing and enhancement techniques.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Future computer vision systems should be designed to adapt to changing environmental conditions, ensuring higher accuracy, reliability, and robustness across different applications.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DA8F0-E900-B6FF-F4D5-FC4ADA340C8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AA714E-77CB-605A-705D-ACCCD71BFFA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81E67C-AFF1-5A09-7F95-03C28AD26B61}"/>
              </a:ext>
            </a:extLst>
          </p:cNvPr>
          <p:cNvSpPr txBox="1"/>
          <p:nvPr/>
        </p:nvSpPr>
        <p:spPr>
          <a:xfrm>
            <a:off x="3500284" y="4867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28336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4773A-E599-88B5-2369-C771F3838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FEA66B-4F83-230E-DF3B-6189C09E461D}"/>
              </a:ext>
            </a:extLst>
          </p:cNvPr>
          <p:cNvSpPr txBox="1"/>
          <p:nvPr/>
        </p:nvSpPr>
        <p:spPr>
          <a:xfrm>
            <a:off x="4127255" y="1514041"/>
            <a:ext cx="3573839" cy="27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endParaRPr lang="en-US" sz="440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27327-F2C2-D1FA-738B-217570F55AE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0473FB-CD27-B381-6590-3BE289467D6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204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499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gunalan V</dc:creator>
  <cp:lastModifiedBy>gunalan V</cp:lastModifiedBy>
  <cp:revision>2</cp:revision>
  <dcterms:modified xsi:type="dcterms:W3CDTF">2026-07-14T04:30:47Z</dcterms:modified>
</cp:coreProperties>
</file>